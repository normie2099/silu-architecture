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One-line pitch: does a SiLU instruction actually pay off once you measure it with the iron law and Amdahl's law?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SiLU = x*sigmoid(x), used in YOLOv8. No hardware exp on a simple core, so software uses a library call. The question is architectural, not circuit-level.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Spagnolo, Perri, Corsonello, ISVLSI 2025. Q6.10 fixed point, constants 384 and 38. Max error and mean error over (-4,4).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hand-typed '1 cycle' in gem5 would disconnect synthesis from simulation. Now run_gem5.py computes latency from the Quartus delay and the clock. Multi-cycle: ceil(d/T). Pipelined: smallest N with d/N + 0.3 ns &lt;= T (0.3 ns is an assumption).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Table: one loop of 1024 inputs in [-4,4), 20 passes, 100 MHz, latency 1. The 10.8x headline was a loop number vs the weakest baseline. Only 2.4x/3.7x vs integer f4.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In-order: flat to latency 4 then one-for-one. OoO pipelined hides 16 cycles, unpipelined exposes all of it: structural hazard.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1 GHz in-order: 1.1x (12-stage) to 1.4x (9-cycle multi-cycle) vs integer f4. Above 123 MHz the FPGA delay is extrapolated.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Software f4 is a compare chain. Sorted inputs are perfectly predictable. Shuffled: 0.41 mispredicts per activation, +3.4 cycles in-order, +5.4 OoO.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Alignment: OoO custom loop 1.0 to 4.0 cycles by alignment. Cache: table 21.0 -&gt; 28.5 in-order at 512 B; fine at 1 kB+.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57/57 SiLU modules replaced, 969 calls confirmed. COCO128, 128 images: relative comparison only, not a published mAP. 8.8% of inputs outside [-4,4].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YOLOv8n 4.37 GMAC, 13.9 M SiLU elements, 315 MACs per activation. Cycles/MAC from conv layer, cycles/activation from shuffled loop at 500 MHz. Estimate, not a simulation of YOLOv8n.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with honest limits and future work (GPU/Vortex comparison).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005840"/>
            <a:ext cx="78638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Hardware–Software Co-Design of a Multiplier-Less SiLU Custom Instruction for RISC-V</a:t>
            </a:r>
            <a:endParaRPr lang="en-US" sz="3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283464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In-order vs out-of-order in gem5, with YOLOv8n as the workload</a:t>
            </a:r>
            <a:endParaRPr lang="en-US" sz="2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93192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Author · Second Author · Third Author · Fourth Author · Fifth Author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Electronics Engineering, University Name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Does the instruction actually pay off?</a:t>
            </a:r>
            <a:endParaRPr lang="en-US" sz="2600" dirty="0"/>
          </a:p>
        </p:txBody>
      </p:sp>
      <p:sp>
        <p:nvSpPr>
          <p:cNvPr id="4" name="Text 1"/>
          <p:cNvSpPr txBox="1"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SiLU(x) = x · σ(x)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an exponential and a division. On a simple RISC-V core that is a library call: about 114 instructions.</a:t>
            </a:r>
            <a:endParaRPr lang="en-US" sz="1600" dirty="0"/>
          </a:p>
        </p:txBody>
      </p:sp>
      <p:sp>
        <p:nvSpPr>
          <p:cNvPr id="5" name="Text 2"/>
          <p:cNvSpPr txBox="1"/>
          <p:nvPr/>
        </p:nvSpPr>
        <p:spPr>
          <a:xfrm>
            <a:off x="457200" y="2926080"/>
            <a:ext cx="39319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 “is the circuit small?” but: how do instruction count, CPI and clock change on in-order and out-of-order cores, and how much of a real network does it touch?</a:t>
            </a:r>
            <a:endParaRPr lang="en-US" sz="1600" dirty="0"/>
          </a:p>
        </p:txBody>
      </p:sp>
      <p:sp>
        <p:nvSpPr>
          <p:cNvPr id="6" name="concept card"/>
          <p:cNvSpPr/>
          <p:nvPr/>
        </p:nvSpPr>
        <p:spPr>
          <a:xfrm>
            <a:off x="4937760" y="1188720"/>
            <a:ext cx="3749040" cy="7315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120640" y="1280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Iron law</a:t>
            </a:r>
            <a:endParaRPr lang="en-US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120640" y="158191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 = IC × CPI × clock</a:t>
            </a:r>
            <a:endParaRPr lang="en-US" sz="1300" dirty="0"/>
          </a:p>
        </p:txBody>
      </p:sp>
      <p:sp>
        <p:nvSpPr>
          <p:cNvPr id="9" name="concept card"/>
          <p:cNvSpPr/>
          <p:nvPr/>
        </p:nvSpPr>
        <p:spPr>
          <a:xfrm>
            <a:off x="4937760" y="2057400"/>
            <a:ext cx="3749040" cy="7315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120640" y="21488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Amdahl's law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5120640" y="245059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bounded by the activation share</a:t>
            </a:r>
            <a:endParaRPr lang="en-US" sz="1300" dirty="0"/>
          </a:p>
        </p:txBody>
      </p:sp>
      <p:sp>
        <p:nvSpPr>
          <p:cNvPr id="12" name="concept card"/>
          <p:cNvSpPr/>
          <p:nvPr/>
        </p:nvSpPr>
        <p:spPr>
          <a:xfrm>
            <a:off x="4937760" y="2926080"/>
            <a:ext cx="3749040" cy="7315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5120640" y="301752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Hazards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5120640" y="33192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and pipelining</a:t>
            </a:r>
            <a:endParaRPr lang="en-US" sz="1300" dirty="0"/>
          </a:p>
        </p:txBody>
      </p:sp>
      <p:sp>
        <p:nvSpPr>
          <p:cNvPr id="15" name="concept card"/>
          <p:cNvSpPr/>
          <p:nvPr/>
        </p:nvSpPr>
        <p:spPr>
          <a:xfrm>
            <a:off x="4937760" y="3794760"/>
            <a:ext cx="3749040" cy="73152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5120640" y="388620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A78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Branch prediction</a:t>
            </a:r>
            <a:endParaRPr lang="en-US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5120640" y="418795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software f4 is a compare chain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approximation: six segments, no multiplier</a:t>
            </a:r>
            <a:endParaRPr lang="en-US" sz="2600" dirty="0"/>
          </a:p>
        </p:txBody>
      </p:sp>
      <p:sp>
        <p:nvSpPr>
          <p:cNvPr id="4" name="equation panel"/>
          <p:cNvSpPr/>
          <p:nvPr/>
        </p:nvSpPr>
        <p:spPr>
          <a:xfrm>
            <a:off x="457200" y="1188720"/>
            <a:ext cx="4572000" cy="320040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685800" y="1371600"/>
            <a:ext cx="42062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≤ −4:        0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−4 &lt; x ≤ −1:   −x/16 − 0.375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−1 &lt; x ≤ 0:    x/4 − 0.037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 &lt; x ≤ 1:     3x/4 − 0.037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 &lt; x ≤ 4:     x + x/16 − 0.375</a:t>
            </a:r>
            <a:endParaRPr lang="en-US" sz="15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x &gt; 4:         x</a:t>
            </a:r>
            <a:endParaRPr lang="en-US" sz="15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365760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Divisions are arithmetic shifts. No multiplier, no table, no memory.</a:t>
            </a:r>
            <a:endParaRPr lang="en-US" sz="1400" dirty="0"/>
          </a:p>
        </p:txBody>
      </p:sp>
      <p:sp>
        <p:nvSpPr>
          <p:cNvPr id="7" name="stat card"/>
          <p:cNvSpPr/>
          <p:nvPr/>
        </p:nvSpPr>
        <p:spPr>
          <a:xfrm>
            <a:off x="5394960" y="118872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532120" y="129844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0.028</a:t>
            </a:r>
            <a:endParaRPr lang="en-US" sz="3200" dirty="0"/>
          </a:p>
        </p:txBody>
      </p:sp>
      <p:sp>
        <p:nvSpPr>
          <p:cNvPr id="9" name="Text 6"/>
          <p:cNvSpPr txBox="1"/>
          <p:nvPr/>
        </p:nvSpPr>
        <p:spPr>
          <a:xfrm>
            <a:off x="5532120" y="193852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abs. error on (−4,4)</a:t>
            </a:r>
            <a:endParaRPr lang="en-US" sz="1200" dirty="0"/>
          </a:p>
        </p:txBody>
      </p:sp>
      <p:sp>
        <p:nvSpPr>
          <p:cNvPr id="10" name="stat card"/>
          <p:cNvSpPr/>
          <p:nvPr/>
        </p:nvSpPr>
        <p:spPr>
          <a:xfrm>
            <a:off x="7086600" y="118872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223760" y="129844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0.072</a:t>
            </a:r>
            <a:endParaRPr lang="en-US" sz="32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193852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 error at the edges</a:t>
            </a:r>
            <a:endParaRPr lang="en-US" sz="1200" dirty="0"/>
          </a:p>
        </p:txBody>
      </p:sp>
      <p:sp>
        <p:nvSpPr>
          <p:cNvPr id="13" name="stat card"/>
          <p:cNvSpPr/>
          <p:nvPr/>
        </p:nvSpPr>
        <p:spPr>
          <a:xfrm>
            <a:off x="5394960" y="260604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532120" y="271576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191</a:t>
            </a:r>
            <a:endParaRPr lang="en-US" sz="3200" dirty="0"/>
          </a:p>
        </p:txBody>
      </p:sp>
      <p:sp>
        <p:nvSpPr>
          <p:cNvPr id="15" name="Text 12"/>
          <p:cNvSpPr txBox="1"/>
          <p:nvPr/>
        </p:nvSpPr>
        <p:spPr>
          <a:xfrm>
            <a:off x="5532120" y="335584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logic elements, 0 multipliers</a:t>
            </a:r>
            <a:endParaRPr lang="en-US" sz="1200" dirty="0"/>
          </a:p>
        </p:txBody>
      </p:sp>
      <p:sp>
        <p:nvSpPr>
          <p:cNvPr id="16" name="stat card"/>
          <p:cNvSpPr/>
          <p:nvPr/>
        </p:nvSpPr>
        <p:spPr>
          <a:xfrm>
            <a:off x="7086600" y="260604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223760" y="271576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8.06 ns</a:t>
            </a:r>
            <a:endParaRPr lang="en-US" sz="2600" dirty="0"/>
          </a:p>
        </p:txBody>
      </p:sp>
      <p:sp>
        <p:nvSpPr>
          <p:cNvPr id="18" name="Text 15"/>
          <p:cNvSpPr txBox="1"/>
          <p:nvPr/>
        </p:nvSpPr>
        <p:spPr>
          <a:xfrm>
            <a:off x="7223760" y="335584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delay (Quartus)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5394960" y="40233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Checked on all 65,536 inputs: RTL, C, PyTorch and the gem5 instruction agree with the golden model, 0 mismatches.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Synthesis delay to gem5 latency, by script</a:t>
            </a:r>
            <a:endParaRPr lang="en-US" sz="2600" dirty="0"/>
          </a:p>
        </p:txBody>
      </p:sp>
      <p:sp>
        <p:nvSpPr>
          <p:cNvPr id="4" name="flow box 1"/>
          <p:cNvSpPr/>
          <p:nvPr/>
        </p:nvSpPr>
        <p:spPr>
          <a:xfrm>
            <a:off x="457200" y="1371600"/>
            <a:ext cx="1828800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48640" y="14813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RTL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8928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silu.v, combinational</a:t>
            </a:r>
            <a:endParaRPr lang="en-US" sz="1200" dirty="0"/>
          </a:p>
        </p:txBody>
      </p:sp>
      <p:sp>
        <p:nvSpPr>
          <p:cNvPr id="7" name="Text 4"/>
          <p:cNvSpPr txBox="1"/>
          <p:nvPr/>
        </p:nvSpPr>
        <p:spPr>
          <a:xfrm>
            <a:off x="2286000" y="1691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8" name="flow box 2"/>
          <p:cNvSpPr/>
          <p:nvPr/>
        </p:nvSpPr>
        <p:spPr>
          <a:xfrm>
            <a:off x="2606040" y="1371600"/>
            <a:ext cx="1828800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2697480" y="14813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Quartus</a:t>
            </a:r>
            <a:endParaRPr lang="en-US" sz="1800" dirty="0"/>
          </a:p>
        </p:txBody>
      </p:sp>
      <p:sp>
        <p:nvSpPr>
          <p:cNvPr id="10" name="Text 7"/>
          <p:cNvSpPr txBox="1"/>
          <p:nvPr/>
        </p:nvSpPr>
        <p:spPr>
          <a:xfrm>
            <a:off x="2697480" y="18928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8.058 ns, 191 LEs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4434840" y="1691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2" name="flow box 3"/>
          <p:cNvSpPr/>
          <p:nvPr/>
        </p:nvSpPr>
        <p:spPr>
          <a:xfrm>
            <a:off x="4754880" y="1371600"/>
            <a:ext cx="1828800" cy="1097280"/>
          </a:xfrm>
          <a:prstGeom prst="rect">
            <a:avLst/>
          </a:prstGeom>
          <a:solidFill>
            <a:srgbClr val="2A78D6"/>
          </a:solidFill>
          <a:ln w="12700">
            <a:solidFill>
              <a:srgbClr val="2A78D6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4846320" y="14813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run_gem5.py</a:t>
            </a:r>
            <a:endParaRPr lang="en-US" sz="1800" dirty="0"/>
          </a:p>
        </p:txBody>
      </p:sp>
      <p:sp>
        <p:nvSpPr>
          <p:cNvPr id="14" name="Text 11"/>
          <p:cNvSpPr txBox="1"/>
          <p:nvPr/>
        </p:nvSpPr>
        <p:spPr>
          <a:xfrm>
            <a:off x="4846320" y="18928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= ceil(d / T)</a:t>
            </a:r>
            <a:endParaRPr lang="en-US" sz="1200" dirty="0"/>
          </a:p>
        </p:txBody>
      </p:sp>
      <p:sp>
        <p:nvSpPr>
          <p:cNvPr id="15" name="Text 12"/>
          <p:cNvSpPr txBox="1"/>
          <p:nvPr/>
        </p:nvSpPr>
        <p:spPr>
          <a:xfrm>
            <a:off x="6583680" y="1691640"/>
            <a:ext cx="320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2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400" dirty="0"/>
          </a:p>
        </p:txBody>
      </p:sp>
      <p:sp>
        <p:nvSpPr>
          <p:cNvPr id="16" name="flow box 4"/>
          <p:cNvSpPr/>
          <p:nvPr/>
        </p:nvSpPr>
        <p:spPr>
          <a:xfrm>
            <a:off x="6903720" y="1371600"/>
            <a:ext cx="1828800" cy="109728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995160" y="148132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gem5</a:t>
            </a:r>
            <a:endParaRPr lang="en-US" sz="1800" dirty="0"/>
          </a:p>
        </p:txBody>
      </p:sp>
      <p:sp>
        <p:nvSpPr>
          <p:cNvPr id="18" name="Text 15"/>
          <p:cNvSpPr txBox="1"/>
          <p:nvPr/>
        </p:nvSpPr>
        <p:spPr>
          <a:xfrm>
            <a:off x="6995160" y="1892808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op class + own FU</a:t>
            </a:r>
            <a:endParaRPr lang="en-US" sz="1200" dirty="0"/>
          </a:p>
        </p:txBody>
      </p:sp>
      <p:sp>
        <p:nvSpPr>
          <p:cNvPr id="19" name="Text 16"/>
          <p:cNvSpPr txBox="1"/>
          <p:nvPr/>
        </p:nvSpPr>
        <p:spPr>
          <a:xfrm>
            <a:off x="457200" y="283464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at each clock (8.058 ns delay)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MHz → 1 cycle    200 MHz → 2    500 MHz → 5</a:t>
            </a:r>
            <a:endParaRPr lang="en-US" sz="16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GHz → 12 stages (pipelined) or 9 cycles (multi-cycle)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5577840" y="2834640"/>
            <a:ext cx="31089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Custom-0 opcode 0x0B, rd = f4(rs1). Same binaries run on MinorCPU (in-order) and O3CPU (out-of-order). 296 gem5 runs.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Iron law: the loop is 24–36× faster than expf</a:t>
            </a:r>
            <a:endParaRPr lang="en-US" sz="2600" dirty="0"/>
          </a:p>
        </p:txBody>
      </p:sp>
      <p:pic>
        <p:nvPicPr>
          <p:cNvPr id="4" name="Image 0" descr="Cycles per activation for five variants on two cor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4754880" cy="2523744"/>
          </a:xfrm>
          <a:prstGeom prst="rect">
            <a:avLst/>
          </a:prstGeom>
        </p:spPr>
      </p:pic>
      <p:sp>
        <p:nvSpPr>
          <p:cNvPr id="5" name="stat card"/>
          <p:cNvSpPr/>
          <p:nvPr/>
        </p:nvSpPr>
        <p:spPr>
          <a:xfrm>
            <a:off x="5486400" y="114300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5623560" y="125272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24×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5623560" y="189280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expf, in-order</a:t>
            </a:r>
            <a:endParaRPr lang="en-US" sz="1200" dirty="0"/>
          </a:p>
        </p:txBody>
      </p:sp>
      <p:sp>
        <p:nvSpPr>
          <p:cNvPr id="8" name="stat card"/>
          <p:cNvSpPr/>
          <p:nvPr/>
        </p:nvSpPr>
        <p:spPr>
          <a:xfrm>
            <a:off x="7086600" y="114300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223760" y="125272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36×</a:t>
            </a:r>
            <a:endParaRPr lang="en-US" sz="3200" dirty="0"/>
          </a:p>
        </p:txBody>
      </p:sp>
      <p:sp>
        <p:nvSpPr>
          <p:cNvPr id="10" name="Text 6"/>
          <p:cNvSpPr txBox="1"/>
          <p:nvPr/>
        </p:nvSpPr>
        <p:spPr>
          <a:xfrm>
            <a:off x="7223760" y="189280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expf, out-of-order</a:t>
            </a:r>
            <a:endParaRPr lang="en-US" sz="1200" dirty="0"/>
          </a:p>
        </p:txBody>
      </p:sp>
      <p:sp>
        <p:nvSpPr>
          <p:cNvPr id="11" name="stat card"/>
          <p:cNvSpPr/>
          <p:nvPr/>
        </p:nvSpPr>
        <p:spPr>
          <a:xfrm>
            <a:off x="5486400" y="251460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5623560" y="262432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2.4×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5623560" y="326440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integer f4, in-order</a:t>
            </a:r>
            <a:endParaRPr lang="en-US" sz="1200" dirty="0"/>
          </a:p>
        </p:txBody>
      </p:sp>
      <p:sp>
        <p:nvSpPr>
          <p:cNvPr id="14" name="stat card"/>
          <p:cNvSpPr/>
          <p:nvPr/>
        </p:nvSpPr>
        <p:spPr>
          <a:xfrm>
            <a:off x="7086600" y="2514600"/>
            <a:ext cx="160020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7223760" y="2624328"/>
            <a:ext cx="1325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3.7×</a:t>
            </a:r>
            <a:endParaRPr lang="en-US" sz="3200" dirty="0"/>
          </a:p>
        </p:txBody>
      </p:sp>
      <p:sp>
        <p:nvSpPr>
          <p:cNvPr id="16" name="Text 12"/>
          <p:cNvSpPr txBox="1"/>
          <p:nvPr/>
        </p:nvSpPr>
        <p:spPr>
          <a:xfrm>
            <a:off x="7223760" y="3264408"/>
            <a:ext cx="1325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integer f4, out-of-order</a:t>
            </a:r>
            <a:endParaRPr lang="en-US" sz="12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" y="38404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instructions per activation (5 are loop overhead) vs 12.8 for integer f4 and 114 for expf. Out-of-order reaches 1.03 cycles: the front end is the limit. CPI alone misleads: in-order CPI rises vs the table (1.17 vs 1.00) yet it is 3× faster.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Hazards: pipeline the unit for out-of-order</a:t>
            </a:r>
            <a:endParaRPr lang="en-US" sz="2600" dirty="0"/>
          </a:p>
        </p:txBody>
      </p:sp>
      <p:pic>
        <p:nvPicPr>
          <p:cNvPr id="4" name="Image 0" descr="Cycles per activation vs unit latency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209544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43434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Out-of-order: pipelined hides every latency to 16 cycles (1.03). Unpipelined 5-cycle unit at 500 MHz is 0.76× the speed of integer f4.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Faster clock means more cycles of latency</a:t>
            </a:r>
            <a:endParaRPr lang="en-US" sz="2600" dirty="0"/>
          </a:p>
        </p:txBody>
      </p:sp>
      <p:pic>
        <p:nvPicPr>
          <p:cNvPr id="4" name="Image 0" descr="Wall-clock time per activation vs 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8229600" cy="3410712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45720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Clocks above about 123 MHz extrapolate an FPGA slow-corner delay: illustrative.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Branch prediction flatters sorted inputs</a:t>
            </a:r>
            <a:endParaRPr lang="en-US" sz="2600" dirty="0"/>
          </a:p>
        </p:txBody>
      </p:sp>
      <p:pic>
        <p:nvPicPr>
          <p:cNvPr id="4" name="Image 0" descr="Sorted vs shuffled inpu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394960" cy="2103120"/>
          </a:xfrm>
          <a:prstGeom prst="rect">
            <a:avLst/>
          </a:prstGeom>
        </p:spPr>
      </p:pic>
      <p:sp>
        <p:nvSpPr>
          <p:cNvPr id="5" name="stat card"/>
          <p:cNvSpPr/>
          <p:nvPr/>
        </p:nvSpPr>
        <p:spPr>
          <a:xfrm>
            <a:off x="6126480" y="1097280"/>
            <a:ext cx="128016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263640" y="12070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0.41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6263640" y="184708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mispredicts per activation (f4)</a:t>
            </a:r>
            <a:endParaRPr lang="en-US" sz="1200" dirty="0"/>
          </a:p>
        </p:txBody>
      </p:sp>
      <p:sp>
        <p:nvSpPr>
          <p:cNvPr id="8" name="stat card"/>
          <p:cNvSpPr/>
          <p:nvPr/>
        </p:nvSpPr>
        <p:spPr>
          <a:xfrm>
            <a:off x="7498080" y="1097280"/>
            <a:ext cx="118872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635240" y="12070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9.0×</a:t>
            </a:r>
            <a:endParaRPr lang="en-US" sz="28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18470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 vs f4, OoO, shuffled</a:t>
            </a:r>
            <a:endParaRPr lang="en-US" sz="1200" dirty="0"/>
          </a:p>
        </p:txBody>
      </p:sp>
      <p:sp>
        <p:nvSpPr>
          <p:cNvPr id="11" name="Text 7"/>
          <p:cNvSpPr txBox="1"/>
          <p:nvPr/>
        </p:nvSpPr>
        <p:spPr>
          <a:xfrm>
            <a:off x="457200" y="347472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table and the instruction have no data-dependent branch. With shuffled data the OoO core takes 9.2 cycles for software f4 and 1.03 for the instruction: much of the gap is removed mispredictions, not just fewer instructions.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Controls: code placement and cache pressure</a:t>
            </a:r>
            <a:endParaRPr lang="en-US" sz="2600" dirty="0"/>
          </a:p>
        </p:txBody>
      </p:sp>
      <p:pic>
        <p:nvPicPr>
          <p:cNvPr id="4" name="Image 0" descr="Cycles per activation vs L1D siz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394960" cy="2103120"/>
          </a:xfrm>
          <a:prstGeom prst="rect">
            <a:avLst/>
          </a:prstGeom>
        </p:spPr>
      </p:pic>
      <p:sp>
        <p:nvSpPr>
          <p:cNvPr id="5" name="stat card"/>
          <p:cNvSpPr/>
          <p:nvPr/>
        </p:nvSpPr>
        <p:spPr>
          <a:xfrm>
            <a:off x="6126480" y="1097280"/>
            <a:ext cx="256032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263640" y="120700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1–4 cycles</a:t>
            </a:r>
            <a:endParaRPr lang="en-US" sz="3200" dirty="0"/>
          </a:p>
        </p:txBody>
      </p:sp>
      <p:sp>
        <p:nvSpPr>
          <p:cNvPr id="7" name="Text 3"/>
          <p:cNvSpPr txBox="1"/>
          <p:nvPr/>
        </p:nvSpPr>
        <p:spPr>
          <a:xfrm>
            <a:off x="6263640" y="184708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OoO instruction loop swings with code alignment alone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457200" y="3383280"/>
            <a:ext cx="8229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 noise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Differences of ±1–3 cycles between cheap variants are not conclusions. Only expf is cleanly separated in the conv layer.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Cache</a:t>
            </a:r>
            <a:endParaRPr lang="en-US" sz="14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400" dirty="0">
                <a:solidFill>
                  <a:srgbClr val="1F29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Shrinking L1D to 512 B costs the table 35% in-order, 21% OoO; ≥1 kB costs ≤3%. The win over the table is mainly instruction count.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YOLOv8n: accuracy cost is within noise</a:t>
            </a:r>
            <a:endParaRPr lang="en-US" sz="26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188720"/>
          <a:ext cx="493776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914400"/>
                <a:gridCol w="100584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Activation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mAP50–95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Δ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 SiLU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0.6024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0.4439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exact, Q6.10 rounding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0.5924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0.4374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f4 (strict 16-bit)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0.5991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0.4359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−0.0081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257-entry table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0.5958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0.4373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F293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−0.0066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5DC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pic>
        <p:nvPicPr>
          <p:cNvPr id="5" name="Image 0" descr="Distribution of activation input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577840" y="1188720"/>
            <a:ext cx="3108960" cy="1508760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457200" y="3657600"/>
            <a:ext cx="49377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of the drop is Q6.10 rounding itself. f4 adds about 0.0015 mAP50–95, below the noise of 128 images.</a:t>
            </a:r>
            <a:endParaRPr lang="en-US" sz="1400" dirty="0"/>
          </a:p>
        </p:txBody>
      </p:sp>
      <p:sp>
        <p:nvSpPr>
          <p:cNvPr id="7" name="Text 2"/>
          <p:cNvSpPr txBox="1"/>
          <p:nvPr/>
        </p:nvSpPr>
        <p:spPr>
          <a:xfrm>
            <a:off x="5577840" y="2880360"/>
            <a:ext cx="3108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8.8% of real activation inputs fall outside [−4,4], so the tails matter in a real model.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Amdahl: small on scalar cores, large with fast MACs</a:t>
            </a:r>
            <a:endParaRPr lang="en-US" sz="2600" dirty="0"/>
          </a:p>
        </p:txBody>
      </p:sp>
      <p:pic>
        <p:nvPicPr>
          <p:cNvPr id="4" name="Image 0" descr="Whole-network speedup vs MAC acceler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5394960" cy="2103120"/>
          </a:xfrm>
          <a:prstGeom prst="rect">
            <a:avLst/>
          </a:prstGeom>
        </p:spPr>
      </p:pic>
      <p:sp>
        <p:nvSpPr>
          <p:cNvPr id="5" name="stat card"/>
          <p:cNvSpPr/>
          <p:nvPr/>
        </p:nvSpPr>
        <p:spPr>
          <a:xfrm>
            <a:off x="6126480" y="1097280"/>
            <a:ext cx="128016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6263640" y="1207008"/>
            <a:ext cx="1005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2A78D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1.1×</a:t>
            </a:r>
            <a:endParaRPr lang="en-US" sz="2800" dirty="0"/>
          </a:p>
        </p:txBody>
      </p:sp>
      <p:sp>
        <p:nvSpPr>
          <p:cNvPr id="7" name="Text 3"/>
          <p:cNvSpPr txBox="1"/>
          <p:nvPr/>
        </p:nvSpPr>
        <p:spPr>
          <a:xfrm>
            <a:off x="6263640" y="1847088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expf, scalar core</a:t>
            </a:r>
            <a:endParaRPr lang="en-US" sz="1200" dirty="0"/>
          </a:p>
        </p:txBody>
      </p:sp>
      <p:sp>
        <p:nvSpPr>
          <p:cNvPr id="8" name="stat card"/>
          <p:cNvSpPr/>
          <p:nvPr/>
        </p:nvSpPr>
        <p:spPr>
          <a:xfrm>
            <a:off x="7498080" y="1097280"/>
            <a:ext cx="118872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9" name="Text 5"/>
          <p:cNvSpPr txBox="1"/>
          <p:nvPr/>
        </p:nvSpPr>
        <p:spPr>
          <a:xfrm>
            <a:off x="7635240" y="1207008"/>
            <a:ext cx="914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EB68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1.01×</a:t>
            </a:r>
            <a:endParaRPr lang="en-US" sz="2600" dirty="0"/>
          </a:p>
        </p:txBody>
      </p:sp>
      <p:sp>
        <p:nvSpPr>
          <p:cNvPr id="10" name="Text 6"/>
          <p:cNvSpPr txBox="1"/>
          <p:nvPr/>
        </p:nvSpPr>
        <p:spPr>
          <a:xfrm>
            <a:off x="7635240" y="1847088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integer f4</a:t>
            </a:r>
            <a:endParaRPr lang="en-US" sz="1200" dirty="0"/>
          </a:p>
        </p:txBody>
      </p:sp>
      <p:sp>
        <p:nvSpPr>
          <p:cNvPr id="11" name="stat card"/>
          <p:cNvSpPr/>
          <p:nvPr/>
        </p:nvSpPr>
        <p:spPr>
          <a:xfrm>
            <a:off x="6126480" y="2514600"/>
            <a:ext cx="2560320" cy="1234440"/>
          </a:xfrm>
          <a:prstGeom prst="rect">
            <a:avLst/>
          </a:prstGeom>
          <a:solidFill>
            <a:srgbClr val="EEF2F8"/>
          </a:solidFill>
          <a:ln w="12700">
            <a:solidFill>
              <a:srgbClr val="EEF2F8"/>
            </a:solidFill>
            <a:prstDash val="solid"/>
          </a:ln>
        </p:spPr>
      </p:sp>
      <p:sp>
        <p:nvSpPr>
          <p:cNvPr id="12" name="Text 8"/>
          <p:cNvSpPr txBox="1"/>
          <p:nvPr/>
        </p:nvSpPr>
        <p:spPr>
          <a:xfrm>
            <a:off x="6263640" y="2624328"/>
            <a:ext cx="2286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1BAF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2.5–2.7×</a:t>
            </a:r>
            <a:endParaRPr lang="en-US" sz="3200" dirty="0"/>
          </a:p>
        </p:txBody>
      </p:sp>
      <p:sp>
        <p:nvSpPr>
          <p:cNvPr id="13" name="Text 9"/>
          <p:cNvSpPr txBox="1"/>
          <p:nvPr/>
        </p:nvSpPr>
        <p:spPr>
          <a:xfrm>
            <a:off x="6263640" y="3264408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5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expf if MACs are 16× faster</a:t>
            </a:r>
            <a:endParaRPr lang="en-US" sz="1200" dirty="0"/>
          </a:p>
        </p:txBody>
      </p:sp>
      <p:sp>
        <p:nvSpPr>
          <p:cNvPr id="14" name="Text 10"/>
          <p:cNvSpPr txBox="1"/>
          <p:nvPr/>
        </p:nvSpPr>
        <p:spPr>
          <a:xfrm>
            <a:off x="457200" y="3474720"/>
            <a:ext cx="53949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instruction matters when the multiply-accumulate part is accelerated, not on a scalar core.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754880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577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 txBox="1"/>
          <p:nvPr/>
        </p:nvSpPr>
        <p:spPr>
          <a:xfrm>
            <a:off x="640080" y="36576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Conclusions</a:t>
            </a:r>
            <a:endParaRPr lang="en-US" sz="34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1188720"/>
            <a:ext cx="786384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24–36× on the loop vs expf, but 2.4–3.7× vs integer 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~1.1× whole network on a scalar core; 2.5–2.7× if MACs are 16× faster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 be pipelined for out-of-order; unpipelined it is slower than integer C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Latency is derived from synthesis by script, not typed by hand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Accuracy cost beyond Q6.10 rounding ≈ 0.0015 mAP50–95 (128 images)</a:t>
            </a:r>
            <a:endParaRPr lang="en-US" sz="18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657600"/>
            <a:ext cx="78638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Limits: </a:t>
            </a:r>
            <a:pPr indent="0" marL="0">
              <a:buNone/>
            </a:pPr>
            <a:r>
              <a:rPr lang="en-US" sz="14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loop and one scalar conv layer; ±1–3 cycle placement noise; FPGA slow-corner delay; 0.3 ns/stage assumed. Future work: GPU (Vortex) comparison.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452628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BFD4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repository: &lt;link&gt;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Multiplier-Less SiLU Custom Instruction for RISC-V</dc:title>
  <dc:subject>PptxGenJS Presentation</dc:subject>
  <dc:creator>Author Names</dc:creator>
  <cp:lastModifiedBy>Author Names</cp:lastModifiedBy>
  <cp:revision>1</cp:revision>
  <dcterms:created xsi:type="dcterms:W3CDTF">2026-10-22T03:29:37Z</dcterms:created>
  <dcterms:modified xsi:type="dcterms:W3CDTF">2026-10-22T03:29:37Z</dcterms:modified>
</cp:coreProperties>
</file>